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3"/>
  </p:handoutMasterIdLst>
  <p:sldIdLst>
    <p:sldId id="257" r:id="rId2"/>
    <p:sldId id="275" r:id="rId3"/>
    <p:sldId id="276" r:id="rId4"/>
    <p:sldId id="277" r:id="rId5"/>
    <p:sldId id="260" r:id="rId6"/>
    <p:sldId id="266" r:id="rId7"/>
    <p:sldId id="281" r:id="rId8"/>
    <p:sldId id="282" r:id="rId9"/>
    <p:sldId id="283" r:id="rId10"/>
    <p:sldId id="278" r:id="rId11"/>
    <p:sldId id="279" r:id="rId12"/>
  </p:sldIdLst>
  <p:sldSz cx="9144000" cy="6858000" type="screen4x3"/>
  <p:notesSz cx="6854825" cy="97488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99"/>
    <a:srgbClr val="E5F0F1"/>
    <a:srgbClr val="EBEBEB"/>
    <a:srgbClr val="F7F7F7"/>
    <a:srgbClr val="FFFFCC"/>
    <a:srgbClr val="008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55" autoAdjust="0"/>
    <p:restoredTop sz="90929"/>
  </p:normalViewPr>
  <p:slideViewPr>
    <p:cSldViewPr>
      <p:cViewPr varScale="1">
        <p:scale>
          <a:sx n="109" d="100"/>
          <a:sy n="109" d="100"/>
        </p:scale>
        <p:origin x="205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DE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0212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de-DE"/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61475"/>
            <a:ext cx="2970213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DE"/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9261475"/>
            <a:ext cx="2970212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B83A5E1-3F1A-4CB1-8D33-BD6297B71542}" type="slidenum">
              <a:rPr lang="de-DE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D3140C-4486-46E2-AD6F-165F187691C1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FD3806-8A2E-4A7D-AEAA-40FA3DCE77E5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743868-0149-4C5F-AA7E-0BB822094231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C10886-C32F-4FB7-AA88-74C89251DE58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E21CF5-B4D5-4F93-AAC5-2F2CD72F7043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50D27-9429-4BA5-92B2-3AFBE195F4C5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0A5DC1-7B7D-471D-8B14-9112FBC65C5B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63D421-970A-4A68-9A53-14637576AABD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A80B1B-7CE8-4C24-AA23-644015EB5D5E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53B342-BFC1-46D7-B9A9-AD4480325395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79F514-F4B6-4199-9E5D-E8D7DCEBA474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Klicken Sie, um die Formate des Vorlagentextes zu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088EDE8-B058-4684-8507-BC7B81C4CA99}" type="slidenum">
              <a:rPr lang="de-DE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8" name="Group 16"/>
          <p:cNvGrpSpPr>
            <a:grpSpLocks/>
          </p:cNvGrpSpPr>
          <p:nvPr/>
        </p:nvGrpSpPr>
        <p:grpSpPr bwMode="auto">
          <a:xfrm>
            <a:off x="463550" y="762000"/>
            <a:ext cx="8215313" cy="4792663"/>
            <a:chOff x="292" y="480"/>
            <a:chExt cx="5175" cy="3019"/>
          </a:xfrm>
        </p:grpSpPr>
        <p:pic>
          <p:nvPicPr>
            <p:cNvPr id="3089" name="Picture 1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92" y="480"/>
              <a:ext cx="5175" cy="30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090" name="Text Box 18"/>
            <p:cNvSpPr txBox="1">
              <a:spLocks noChangeArrowheads="1"/>
            </p:cNvSpPr>
            <p:nvPr/>
          </p:nvSpPr>
          <p:spPr bwMode="auto">
            <a:xfrm rot="794485">
              <a:off x="1424" y="1730"/>
              <a:ext cx="1077" cy="443"/>
            </a:xfrm>
            <a:prstGeom prst="rect">
              <a:avLst/>
            </a:prstGeom>
            <a:solidFill>
              <a:srgbClr val="E5F0F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de-DE" sz="1600" b="1">
                  <a:latin typeface="Arial Unicode MS" pitchFamily="34" charset="-128"/>
                </a:rPr>
                <a:t>Haro GmbH</a:t>
              </a:r>
            </a:p>
            <a:p>
              <a:pPr algn="ctr">
                <a:spcBef>
                  <a:spcPct val="50000"/>
                </a:spcBef>
              </a:pPr>
              <a:r>
                <a:rPr lang="de-DE" sz="1600" b="1">
                  <a:latin typeface="Arial Unicode MS" pitchFamily="34" charset="-128"/>
                </a:rPr>
                <a:t>Ludwigshafen</a:t>
              </a:r>
            </a:p>
          </p:txBody>
        </p:sp>
        <p:sp>
          <p:nvSpPr>
            <p:cNvPr id="3091" name="Text Box 19"/>
            <p:cNvSpPr txBox="1">
              <a:spLocks noChangeArrowheads="1"/>
            </p:cNvSpPr>
            <p:nvPr/>
          </p:nvSpPr>
          <p:spPr bwMode="auto">
            <a:xfrm rot="-681303">
              <a:off x="3178" y="1969"/>
              <a:ext cx="1104" cy="346"/>
            </a:xfrm>
            <a:prstGeom prst="rect">
              <a:avLst/>
            </a:prstGeom>
            <a:solidFill>
              <a:srgbClr val="E5F0F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de-DE" sz="1200" b="1" dirty="0" err="1">
                  <a:latin typeface="Arial Unicode MS" pitchFamily="34" charset="-128"/>
                </a:rPr>
                <a:t>Haro</a:t>
              </a:r>
              <a:r>
                <a:rPr lang="de-DE" sz="1200" b="1" dirty="0">
                  <a:latin typeface="Arial Unicode MS" pitchFamily="34" charset="-128"/>
                </a:rPr>
                <a:t> GmbH</a:t>
              </a:r>
            </a:p>
            <a:p>
              <a:pPr algn="ctr">
                <a:spcBef>
                  <a:spcPct val="50000"/>
                </a:spcBef>
              </a:pPr>
              <a:r>
                <a:rPr lang="de-DE" sz="1200" b="1" dirty="0">
                  <a:latin typeface="Arial Unicode MS" pitchFamily="34" charset="-128"/>
                </a:rPr>
                <a:t>Ludwigshafen</a:t>
              </a:r>
            </a:p>
          </p:txBody>
        </p:sp>
      </p:grp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4114800" y="5486400"/>
            <a:ext cx="48006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dirty="0"/>
              <a:t>Anschaffungskosten: 60 000,00 EUR </a:t>
            </a:r>
          </a:p>
          <a:p>
            <a:pPr>
              <a:spcBef>
                <a:spcPct val="50000"/>
              </a:spcBef>
            </a:pPr>
            <a:endParaRPr lang="de-DE" dirty="0"/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3429000" y="3124200"/>
            <a:ext cx="220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de-DE"/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1371600" y="5486400"/>
            <a:ext cx="2743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dirty="0"/>
              <a:t>2. Januar 20..</a:t>
            </a:r>
          </a:p>
        </p:txBody>
      </p:sp>
      <p:sp>
        <p:nvSpPr>
          <p:cNvPr id="3086" name="Text Box 14"/>
          <p:cNvSpPr txBox="1">
            <a:spLocks noChangeArrowheads="1"/>
          </p:cNvSpPr>
          <p:nvPr/>
        </p:nvSpPr>
        <p:spPr bwMode="auto">
          <a:xfrm>
            <a:off x="674688" y="5940425"/>
            <a:ext cx="785554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dirty="0"/>
              <a:t>Wie wirkt sich der Geschäftsfall auf die Bilanz aus?</a:t>
            </a:r>
          </a:p>
          <a:p>
            <a:r>
              <a:rPr lang="de-DE" dirty="0"/>
              <a:t>Wie wirkt sich die Nutzung auf die Bilanz der Folgejahre aus?</a:t>
            </a:r>
          </a:p>
        </p:txBody>
      </p:sp>
      <p:sp>
        <p:nvSpPr>
          <p:cNvPr id="3079" name="AutoShape 7"/>
          <p:cNvSpPr>
            <a:spLocks noChangeArrowheads="1"/>
          </p:cNvSpPr>
          <p:nvPr/>
        </p:nvSpPr>
        <p:spPr bwMode="auto">
          <a:xfrm rot="-54096">
            <a:off x="2286000" y="3429000"/>
            <a:ext cx="971550" cy="1905000"/>
          </a:xfrm>
          <a:prstGeom prst="downArrow">
            <a:avLst>
              <a:gd name="adj1" fmla="val 50000"/>
              <a:gd name="adj2" fmla="val 49020"/>
            </a:avLst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de-DE"/>
              <a:t>kauft am 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251520" y="260648"/>
            <a:ext cx="871296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600" b="1" dirty="0"/>
              <a:t>Einführung in Kauf und Nutzung von Sachanlagen (B.S.65f)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 autoUpdateAnimBg="0"/>
      <p:bldP spid="3080" grpId="0" autoUpdateAnimBg="0"/>
      <p:bldP spid="3086" grpId="0" build="p" autoUpdateAnimBg="0"/>
      <p:bldP spid="3079" grpId="0" animBg="1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42900" y="457200"/>
            <a:ext cx="8458200" cy="1143000"/>
          </a:xfrm>
          <a:solidFill>
            <a:srgbClr val="FFFF99"/>
          </a:solidFill>
        </p:spPr>
        <p:txBody>
          <a:bodyPr/>
          <a:lstStyle/>
          <a:p>
            <a:r>
              <a:rPr lang="de-DE" sz="4800" dirty="0"/>
              <a:t>Gründe für die Wertminderung</a:t>
            </a:r>
          </a:p>
        </p:txBody>
      </p:sp>
      <p:sp>
        <p:nvSpPr>
          <p:cNvPr id="27651" name="Text Box 1027"/>
          <p:cNvSpPr txBox="1">
            <a:spLocks noChangeArrowheads="1"/>
          </p:cNvSpPr>
          <p:nvPr/>
        </p:nvSpPr>
        <p:spPr bwMode="auto">
          <a:xfrm>
            <a:off x="1143000" y="1981200"/>
            <a:ext cx="7010400" cy="277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de-DE" sz="3200" dirty="0"/>
              <a:t> Gebrauch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de-DE" sz="3200"/>
              <a:t> technischer Fortschritt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de-DE" sz="3200" dirty="0"/>
              <a:t> wirtschaftliche Überholung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de-DE" sz="3200" dirty="0"/>
              <a:t> natürlicher Verschleiß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nimBg="1"/>
      <p:bldP spid="2765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074527"/>
              </p:ext>
            </p:extLst>
          </p:nvPr>
        </p:nvGraphicFramePr>
        <p:xfrm>
          <a:off x="251521" y="548683"/>
          <a:ext cx="8424936" cy="5219544"/>
        </p:xfrm>
        <a:graphic>
          <a:graphicData uri="http://schemas.openxmlformats.org/drawingml/2006/table">
            <a:tbl>
              <a:tblPr/>
              <a:tblGrid>
                <a:gridCol w="423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0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0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88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63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918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2770">
                <a:tc gridSpan="2">
                  <a:txBody>
                    <a:bodyPr/>
                    <a:lstStyle/>
                    <a:p>
                      <a:pPr algn="l" fontAlgn="b"/>
                      <a:r>
                        <a:rPr lang="de-DE" sz="1400" b="1" i="0" u="none" strike="noStrike" dirty="0">
                          <a:latin typeface="Times New Roman"/>
                        </a:rPr>
                        <a:t>Anschaffungswert:</a:t>
                      </a: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60.000,00 €</a:t>
                      </a: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latin typeface="MS Sans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latin typeface="Times New Roman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latin typeface="Times New Roman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latin typeface="Times New Roman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900" b="0" i="0" u="none" strike="noStrike">
                        <a:latin typeface="MS Sans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406">
                <a:tc gridSpan="2">
                  <a:txBody>
                    <a:bodyPr/>
                    <a:lstStyle/>
                    <a:p>
                      <a:pPr algn="l" fontAlgn="b"/>
                      <a:r>
                        <a:rPr lang="de-DE" sz="1400" b="1" i="0" u="none" strike="noStrike">
                          <a:latin typeface="Times New Roman"/>
                        </a:rPr>
                        <a:t>Nutzungsdauer:</a:t>
                      </a: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6 Jahre</a:t>
                      </a: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 dirty="0">
                        <a:latin typeface="MS Sans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latin typeface="Times New Roman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latin typeface="Times New Roman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latin typeface="Times New Roman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900" b="0" i="0" u="none" strike="noStrike">
                        <a:latin typeface="MS Sans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70">
                <a:tc gridSpan="2">
                  <a:txBody>
                    <a:bodyPr/>
                    <a:lstStyle/>
                    <a:p>
                      <a:pPr algn="l" fontAlgn="b"/>
                      <a:r>
                        <a:rPr lang="de-DE" sz="1400" b="1" i="0" u="none" strike="noStrike" dirty="0">
                          <a:latin typeface="Times New Roman"/>
                        </a:rPr>
                        <a:t>Linearer AFA-Betrag</a:t>
                      </a: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endParaRPr lang="de-DE" sz="1400" b="0" i="0" u="none" strike="noStrike" dirty="0">
                        <a:latin typeface="Times New Roman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 dirty="0">
                          <a:latin typeface="MS Sans"/>
                        </a:rPr>
                        <a:t> AW</a:t>
                      </a:r>
                      <a:r>
                        <a:rPr lang="de-DE" sz="1400" b="0" i="0" u="none" strike="noStrike" baseline="0" dirty="0">
                          <a:latin typeface="MS Sans"/>
                        </a:rPr>
                        <a:t> / N</a:t>
                      </a:r>
                    </a:p>
                    <a:p>
                      <a:pPr algn="l" fontAlgn="b"/>
                      <a:endParaRPr lang="de-DE" sz="1400" b="0" i="0" u="none" strike="noStrike" dirty="0">
                        <a:latin typeface="MS Sans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 dirty="0">
                        <a:latin typeface="Times New Roman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latin typeface="Times New Roman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latin typeface="Times New Roman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900" b="0" i="0" u="none" strike="noStrike">
                        <a:latin typeface="MS Sans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406">
                <a:tc gridSpan="2">
                  <a:txBody>
                    <a:bodyPr/>
                    <a:lstStyle/>
                    <a:p>
                      <a:pPr algn="l" fontAlgn="b"/>
                      <a:r>
                        <a:rPr lang="de-DE" sz="1400" b="1" i="0" u="none" strike="noStrike" dirty="0">
                          <a:latin typeface="Times New Roman"/>
                        </a:rPr>
                        <a:t>Degressiver</a:t>
                      </a:r>
                      <a:r>
                        <a:rPr lang="de-DE" sz="1400" b="1" i="0" u="none" strike="noStrike" baseline="0" dirty="0">
                          <a:latin typeface="Times New Roman"/>
                        </a:rPr>
                        <a:t> </a:t>
                      </a:r>
                      <a:r>
                        <a:rPr lang="de-DE" sz="1400" b="1" i="0" u="none" strike="noStrike" dirty="0">
                          <a:latin typeface="Times New Roman"/>
                        </a:rPr>
                        <a:t>AFA-Prozentsatz:</a:t>
                      </a: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25 %</a:t>
                      </a: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 dirty="0">
                        <a:latin typeface="MS Sans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latin typeface="Times New Roman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 dirty="0">
                        <a:latin typeface="Times New Roman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latin typeface="Times New Roman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900" b="0" i="0" u="none" strike="noStrike">
                        <a:latin typeface="MS Sans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885"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latin typeface="Times New Roman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latin typeface="Times New Roman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latin typeface="Times New Roman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 dirty="0">
                        <a:latin typeface="Times New Roman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latin typeface="Times New Roman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latin typeface="Times New Roman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latin typeface="Times New Roman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900" b="0" i="0" u="none" strike="noStrike">
                        <a:latin typeface="MS Sans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70"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1" i="0" u="none" strike="noStrike" dirty="0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de-DE" sz="1400" b="1" i="0" u="none" strike="noStrike" dirty="0">
                          <a:latin typeface="Times New Roman"/>
                        </a:rPr>
                        <a:t>Lineare Abschreibung:</a:t>
                      </a:r>
                    </a:p>
                  </a:txBody>
                  <a:tcPr marL="8359" marR="8359" marT="835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de-DE" sz="1400" b="1" i="0" u="none" strike="noStrike">
                          <a:latin typeface="Times New Roman"/>
                        </a:rPr>
                        <a:t>Degressive Abschreibung:</a:t>
                      </a:r>
                    </a:p>
                  </a:txBody>
                  <a:tcPr marL="8359" marR="8359" marT="835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0" i="0" u="none" strike="noStrike">
                          <a:latin typeface="MS Sans"/>
                        </a:rPr>
                        <a:t> </a:t>
                      </a:r>
                    </a:p>
                  </a:txBody>
                  <a:tcPr marL="8359" marR="8359" marT="835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 dirty="0">
                          <a:latin typeface="Times New Roman"/>
                        </a:rPr>
                        <a:t>Leistungs-</a:t>
                      </a:r>
                      <a:r>
                        <a:rPr lang="de-DE" sz="1400" b="1" i="0" u="none" strike="noStrike" dirty="0" err="1">
                          <a:latin typeface="Times New Roman"/>
                        </a:rPr>
                        <a:t>abschreibung</a:t>
                      </a:r>
                      <a:endParaRPr lang="de-DE" sz="1400" b="1" i="0" u="none" strike="noStrike" dirty="0">
                        <a:latin typeface="Times New Roman"/>
                      </a:endParaRPr>
                    </a:p>
                  </a:txBody>
                  <a:tcPr marL="8359" marR="8359" marT="835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0" i="0" u="none" strike="noStrike">
                          <a:latin typeface="MS Sans"/>
                        </a:rPr>
                        <a:t> </a:t>
                      </a:r>
                    </a:p>
                  </a:txBody>
                  <a:tcPr marL="8359" marR="8359" marT="835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577"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 b="1" i="0" u="none" strike="noStrike">
                          <a:latin typeface="Times New Roman"/>
                        </a:rPr>
                        <a:t>Jahr</a:t>
                      </a:r>
                    </a:p>
                  </a:txBody>
                  <a:tcPr marL="8359" marR="8359" marT="835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 b="1" i="0" u="none" strike="noStrike">
                          <a:latin typeface="Times New Roman"/>
                        </a:rPr>
                        <a:t>AFA-Betrag</a:t>
                      </a:r>
                    </a:p>
                  </a:txBody>
                  <a:tcPr marL="8359" marR="8359" marT="835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 b="1" i="0" u="none" strike="noStrike" dirty="0">
                          <a:latin typeface="Times New Roman"/>
                        </a:rPr>
                        <a:t>Buchwert am Ende des Jahres</a:t>
                      </a:r>
                    </a:p>
                  </a:txBody>
                  <a:tcPr marL="8359" marR="8359" marT="835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 b="1" i="0" u="none" strike="noStrike" dirty="0">
                          <a:latin typeface="Times New Roman"/>
                        </a:rPr>
                        <a:t>AFA-Betrag</a:t>
                      </a:r>
                    </a:p>
                  </a:txBody>
                  <a:tcPr marL="8359" marR="8359" marT="835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 b="1" i="0" u="none" strike="noStrike" dirty="0">
                          <a:latin typeface="Times New Roman"/>
                        </a:rPr>
                        <a:t>Buchwert am Ende des Jahres</a:t>
                      </a:r>
                    </a:p>
                  </a:txBody>
                  <a:tcPr marL="8359" marR="8359" marT="835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 b="1" i="0" u="none" strike="noStrike" dirty="0">
                          <a:latin typeface="Times New Roman"/>
                        </a:rPr>
                        <a:t>Kilometer-</a:t>
                      </a:r>
                      <a:r>
                        <a:rPr lang="de-DE" sz="1400" b="1" i="0" u="none" strike="noStrike" dirty="0" err="1">
                          <a:latin typeface="Times New Roman"/>
                        </a:rPr>
                        <a:t>leistung</a:t>
                      </a:r>
                      <a:endParaRPr lang="de-DE" sz="1400" b="1" i="0" u="none" strike="noStrike" dirty="0">
                        <a:latin typeface="Times New Roman"/>
                      </a:endParaRPr>
                    </a:p>
                  </a:txBody>
                  <a:tcPr marL="8359" marR="8359" marT="835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 b="1" i="0" u="none" strike="noStrike" dirty="0">
                          <a:latin typeface="Times New Roman"/>
                        </a:rPr>
                        <a:t>AFA-Betrag</a:t>
                      </a:r>
                    </a:p>
                  </a:txBody>
                  <a:tcPr marL="8359" marR="8359" marT="835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 b="1" i="0" u="none" strike="noStrike" dirty="0">
                          <a:latin typeface="Times New Roman"/>
                        </a:rPr>
                        <a:t>Buchwert am Ende des Jahres</a:t>
                      </a:r>
                    </a:p>
                  </a:txBody>
                  <a:tcPr marL="8359" marR="8359" marT="835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61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1</a:t>
                      </a:r>
                    </a:p>
                  </a:txBody>
                  <a:tcPr marL="8359" marR="8359" marT="835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600" b="0" i="0" u="none" strike="noStrike" dirty="0">
                          <a:latin typeface="Times New Roman"/>
                        </a:rPr>
                        <a:t> 30.000 km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61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2</a:t>
                      </a:r>
                    </a:p>
                  </a:txBody>
                  <a:tcPr marL="8359" marR="8359" marT="835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600" b="0" i="0" u="none" strike="noStrike" dirty="0">
                          <a:latin typeface="Times New Roman"/>
                        </a:rPr>
                        <a:t> 10.000 km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161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3</a:t>
                      </a:r>
                    </a:p>
                  </a:txBody>
                  <a:tcPr marL="8359" marR="8359" marT="835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600" b="0" i="0" u="none" strike="noStrike" dirty="0">
                          <a:latin typeface="Times New Roman"/>
                        </a:rPr>
                        <a:t> 40.000 km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161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4</a:t>
                      </a:r>
                    </a:p>
                  </a:txBody>
                  <a:tcPr marL="8359" marR="8359" marT="835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600" b="0" i="0" u="none" strike="noStrike" dirty="0">
                          <a:latin typeface="Times New Roman"/>
                        </a:rPr>
                        <a:t> 70.000 km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161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5</a:t>
                      </a:r>
                    </a:p>
                  </a:txBody>
                  <a:tcPr marL="8359" marR="8359" marT="835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600" b="0" i="0" u="none" strike="noStrike" dirty="0">
                          <a:latin typeface="Times New Roman"/>
                        </a:rPr>
                        <a:t> 30.000 km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161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6</a:t>
                      </a:r>
                    </a:p>
                  </a:txBody>
                  <a:tcPr marL="8359" marR="8359" marT="835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600" b="0" i="0" u="none" strike="noStrike" dirty="0">
                          <a:latin typeface="Times New Roman"/>
                        </a:rPr>
                        <a:t> 40.000 km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>
                          <a:latin typeface="Times New Roman"/>
                        </a:rPr>
                        <a:t> </a:t>
                      </a:r>
                    </a:p>
                  </a:txBody>
                  <a:tcPr marL="8359" marR="8359" marT="835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/>
          <p:cNvGraphicFramePr>
            <a:graphicFrameLocks noGrp="1"/>
          </p:cNvGraphicFramePr>
          <p:nvPr/>
        </p:nvGraphicFramePr>
        <p:xfrm>
          <a:off x="251520" y="476672"/>
          <a:ext cx="8208914" cy="5760640"/>
        </p:xfrm>
        <a:graphic>
          <a:graphicData uri="http://schemas.openxmlformats.org/drawingml/2006/table">
            <a:tbl>
              <a:tblPr/>
              <a:tblGrid>
                <a:gridCol w="549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5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08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59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07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08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8217">
                <a:tc gridSpan="2">
                  <a:txBody>
                    <a:bodyPr/>
                    <a:lstStyle/>
                    <a:p>
                      <a:pPr algn="l" fontAlgn="b"/>
                      <a:r>
                        <a:rPr lang="de-DE" sz="1400" b="1" i="0" u="none" strike="noStrike" dirty="0">
                          <a:latin typeface="Times New Roman"/>
                        </a:rPr>
                        <a:t>Anschaffungswert: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60.000,00 €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800" b="0" i="0" u="none" strike="noStrike" dirty="0">
                        <a:latin typeface="MS Sans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000" b="0" i="0" u="none" strike="noStrike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000" b="0" i="0" u="none" strike="noStrike" dirty="0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000" b="0" i="0" u="none" strike="noStrike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800" b="0" i="0" u="none" strike="noStrike">
                        <a:latin typeface="MS Sans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870">
                <a:tc gridSpan="2">
                  <a:txBody>
                    <a:bodyPr/>
                    <a:lstStyle/>
                    <a:p>
                      <a:pPr algn="l" fontAlgn="b"/>
                      <a:r>
                        <a:rPr lang="de-DE" sz="1400" b="1" i="0" u="none" strike="noStrike" dirty="0">
                          <a:latin typeface="Times New Roman"/>
                        </a:rPr>
                        <a:t>Nutzungsdauer: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6 Jahre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800" b="0" i="0" u="none" strike="noStrike">
                        <a:latin typeface="MS Sans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000" b="0" i="0" u="none" strike="noStrike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000" b="0" i="0" u="none" strike="noStrike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000" b="0" i="0" u="none" strike="noStrike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800" b="0" i="0" u="none" strike="noStrike">
                        <a:latin typeface="MS Sans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217">
                <a:tc gridSpan="2">
                  <a:txBody>
                    <a:bodyPr/>
                    <a:lstStyle/>
                    <a:p>
                      <a:pPr algn="l" fontAlgn="b"/>
                      <a:r>
                        <a:rPr lang="de-DE" sz="1400" b="1" i="0" u="none" strike="noStrike">
                          <a:latin typeface="Times New Roman"/>
                        </a:rPr>
                        <a:t>Linearer AFA-Betrag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10.000,00 €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800" b="0" i="0" u="none" strike="noStrike">
                        <a:latin typeface="MS Sans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000" b="0" i="0" u="none" strike="noStrike" dirty="0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000" b="0" i="0" u="none" strike="noStrike" dirty="0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000" b="0" i="0" u="none" strike="noStrike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800" b="0" i="0" u="none" strike="noStrike">
                        <a:latin typeface="MS Sans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870">
                <a:tc gridSpan="2">
                  <a:txBody>
                    <a:bodyPr/>
                    <a:lstStyle/>
                    <a:p>
                      <a:pPr algn="l" fontAlgn="b"/>
                      <a:r>
                        <a:rPr lang="de-DE" sz="1400" b="1" i="0" u="none" strike="noStrike">
                          <a:latin typeface="Times New Roman"/>
                        </a:rPr>
                        <a:t>Afa-Prozentsatz: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25 %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800" b="0" i="0" u="none" strike="noStrike">
                        <a:latin typeface="MS Sans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000" b="0" i="0" u="none" strike="noStrike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000" b="0" i="0" u="none" strike="noStrike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000" b="0" i="0" u="none" strike="noStrike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800" b="0" i="0" u="none" strike="noStrike">
                        <a:latin typeface="MS Sans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578">
                <a:tc>
                  <a:txBody>
                    <a:bodyPr/>
                    <a:lstStyle/>
                    <a:p>
                      <a:pPr algn="l" fontAlgn="b"/>
                      <a:endParaRPr lang="de-DE" sz="1000" b="0" i="0" u="none" strike="noStrike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000" b="0" i="0" u="none" strike="noStrike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000" b="0" i="0" u="none" strike="noStrike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000" b="0" i="0" u="none" strike="noStrike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000" b="0" i="0" u="none" strike="noStrike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000" b="0" i="0" u="none" strike="noStrike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000" b="0" i="0" u="none" strike="noStrike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800" b="0" i="0" u="none" strike="noStrike">
                        <a:latin typeface="MS Sans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217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1" i="0" u="none" strike="noStrike" dirty="0">
                          <a:latin typeface="Times New Roman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de-DE" sz="1200" b="1" i="0" u="none" strike="noStrike" dirty="0">
                          <a:latin typeface="Times New Roman"/>
                        </a:rPr>
                        <a:t>Lineare Abschreibung: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de-DE" sz="1200" b="1" i="0" u="none" strike="noStrike" dirty="0">
                          <a:latin typeface="Times New Roman"/>
                        </a:rPr>
                        <a:t>Degressive Abschreibung: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latin typeface="MS Sans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latin typeface="Times New Roman"/>
                        </a:rPr>
                        <a:t>Leistungsabschreibung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latin typeface="MS Sans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319">
                <a:tc>
                  <a:txBody>
                    <a:bodyPr/>
                    <a:lstStyle/>
                    <a:p>
                      <a:pPr algn="l" fontAlgn="t"/>
                      <a:r>
                        <a:rPr lang="de-DE" sz="1200" b="1" i="0" u="none" strike="noStrike">
                          <a:latin typeface="Times New Roman"/>
                        </a:rPr>
                        <a:t>Jahr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200" b="1" i="0" u="none" strike="noStrike">
                          <a:latin typeface="Times New Roman"/>
                        </a:rPr>
                        <a:t>AFA-Betrag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200" b="1" i="0" u="none" strike="noStrike">
                          <a:latin typeface="Times New Roman"/>
                        </a:rPr>
                        <a:t>Buchwert am Ende des Jahres</a:t>
                      </a: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200" b="1" i="0" u="none" strike="noStrike">
                          <a:latin typeface="Times New Roman"/>
                        </a:rPr>
                        <a:t>AFA-Betrag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200" b="1" i="0" u="none" strike="noStrike" dirty="0">
                          <a:latin typeface="Times New Roman"/>
                        </a:rPr>
                        <a:t>Buchwert am Ende des Jahres</a:t>
                      </a: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200" b="1" i="0" u="none" strike="noStrike" dirty="0">
                          <a:latin typeface="Times New Roman"/>
                        </a:rPr>
                        <a:t>Kilometerleistung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200" b="1" i="0" u="none" strike="noStrike" dirty="0">
                          <a:latin typeface="Times New Roman"/>
                        </a:rPr>
                        <a:t>AFA-Betrag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200" b="1" i="0" u="none" strike="noStrike" dirty="0">
                          <a:latin typeface="Times New Roman"/>
                        </a:rPr>
                        <a:t>Buchwert am Ende des Jahres</a:t>
                      </a: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324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 dirty="0">
                          <a:latin typeface="Times New Roman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10000,00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50000,00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15000,00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45000,00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30000 km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8181,82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51818,18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324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latin typeface="Times New Roman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10000,00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40000,00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11250,00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33750,00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10000 km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2727,27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49090,91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8324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latin typeface="Times New Roman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10000,00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30000,00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8437,50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25312,50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40000 km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10909,09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38181,82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8324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latin typeface="Times New Roman"/>
                        </a:rPr>
                        <a:t>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10000,00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20000,00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6328,13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18984,38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70000 km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19090,91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19090,91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8324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latin typeface="Times New Roman"/>
                        </a:rPr>
                        <a:t>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10000,00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10000,00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4746,09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14238,28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30000 km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8181,82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10909,09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8324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latin typeface="Times New Roman"/>
                        </a:rPr>
                        <a:t>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10000,00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0,00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3559,57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10678,71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40000 km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10909,09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0,00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7704">
                <a:tc>
                  <a:txBody>
                    <a:bodyPr/>
                    <a:lstStyle/>
                    <a:p>
                      <a:pPr algn="l" fontAlgn="b"/>
                      <a:endParaRPr lang="de-DE" sz="1000" b="0" i="0" u="none" strike="noStrike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220000 km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latin typeface="MS Sans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 dirty="0">
                        <a:latin typeface="MS Sans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7704">
                <a:tc>
                  <a:txBody>
                    <a:bodyPr/>
                    <a:lstStyle/>
                    <a:p>
                      <a:pPr algn="l" fontAlgn="b"/>
                      <a:endParaRPr lang="de-DE" sz="1000" b="0" i="0" u="none" strike="noStrike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latin typeface="Times New Roman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1 km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MS Sans"/>
                        </a:rPr>
                        <a:t>0,27 €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 dirty="0">
                        <a:latin typeface="MS Sans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533400" y="990600"/>
            <a:ext cx="7924800" cy="230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Font typeface="Times New Roman" pitchFamily="18" charset="0"/>
              <a:buNone/>
            </a:pPr>
            <a:endParaRPr lang="de-DE" sz="2800" b="1"/>
          </a:p>
          <a:p>
            <a:pPr lvl="1" eaLnBrk="0" hangingPunct="0">
              <a:lnSpc>
                <a:spcPct val="144000"/>
              </a:lnSpc>
              <a:spcBef>
                <a:spcPct val="50000"/>
              </a:spcBef>
              <a:buFontTx/>
              <a:buBlip>
                <a:blip r:embed="rId2"/>
              </a:buBlip>
            </a:pPr>
            <a:r>
              <a:rPr lang="de-DE"/>
              <a:t>  die </a:t>
            </a:r>
            <a:r>
              <a:rPr lang="de-DE" u="sng"/>
              <a:t>Anschaffungs- oder Herstellungskosten</a:t>
            </a:r>
            <a:r>
              <a:rPr lang="de-DE"/>
              <a:t> werden in    	g</a:t>
            </a:r>
            <a:r>
              <a:rPr lang="de-DE" u="sng"/>
              <a:t>leichen Beträgen</a:t>
            </a:r>
            <a:r>
              <a:rPr lang="de-DE"/>
              <a:t> auf die </a:t>
            </a:r>
            <a:r>
              <a:rPr lang="de-DE" u="sng"/>
              <a:t>Jahre der Nutzung</a:t>
            </a:r>
            <a:r>
              <a:rPr lang="de-DE"/>
              <a:t> verteilt</a:t>
            </a:r>
          </a:p>
          <a:p>
            <a:pPr eaLnBrk="0" hangingPunct="0">
              <a:spcBef>
                <a:spcPct val="50000"/>
              </a:spcBef>
            </a:pPr>
            <a:endParaRPr lang="de-DE"/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609600" y="1066800"/>
            <a:ext cx="7772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de-DE" sz="2800" b="1"/>
              <a:t>I.  Die lineare Abschreibung</a:t>
            </a:r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990600" y="2895600"/>
            <a:ext cx="7391400" cy="7953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de-DE" dirty="0"/>
              <a:t>Bsp.: 	Anschaffungskosten: 60.000,00 EUR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de-DE" dirty="0"/>
              <a:t>	Nutzungsdauer: 6 Jahre</a:t>
            </a:r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247650" y="4191000"/>
            <a:ext cx="4800600" cy="1576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55000"/>
              </a:lnSpc>
              <a:spcBef>
                <a:spcPct val="50000"/>
              </a:spcBef>
            </a:pPr>
            <a:r>
              <a:rPr lang="de-DE"/>
              <a:t>					</a:t>
            </a:r>
            <a:endParaRPr lang="de-DE" sz="2800"/>
          </a:p>
          <a:p>
            <a:pPr>
              <a:lnSpc>
                <a:spcPct val="55000"/>
              </a:lnSpc>
              <a:spcBef>
                <a:spcPct val="50000"/>
              </a:spcBef>
            </a:pPr>
            <a:r>
              <a:rPr lang="de-DE" b="1"/>
              <a:t>Linearer Abschreibungsbetrag = </a:t>
            </a:r>
          </a:p>
          <a:p>
            <a:pPr>
              <a:lnSpc>
                <a:spcPct val="55000"/>
              </a:lnSpc>
              <a:spcBef>
                <a:spcPct val="50000"/>
              </a:spcBef>
            </a:pPr>
            <a:r>
              <a:rPr lang="de-DE" b="1"/>
              <a:t>	(AfA-Betrag)		</a:t>
            </a:r>
            <a:r>
              <a:rPr lang="de-DE" sz="2800"/>
              <a:t>	</a:t>
            </a:r>
          </a:p>
          <a:p>
            <a:pPr>
              <a:lnSpc>
                <a:spcPct val="55000"/>
              </a:lnSpc>
              <a:spcBef>
                <a:spcPct val="50000"/>
              </a:spcBef>
            </a:pPr>
            <a:endParaRPr lang="de-DE" sz="2800"/>
          </a:p>
        </p:txBody>
      </p:sp>
      <p:sp>
        <p:nvSpPr>
          <p:cNvPr id="6201" name="Text Box 57"/>
          <p:cNvSpPr txBox="1">
            <a:spLocks noChangeArrowheads="1"/>
          </p:cNvSpPr>
          <p:nvPr/>
        </p:nvSpPr>
        <p:spPr bwMode="auto">
          <a:xfrm>
            <a:off x="5181600" y="4191000"/>
            <a:ext cx="3657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sz="2800"/>
              <a:t>Anschaffungskosten</a:t>
            </a:r>
          </a:p>
        </p:txBody>
      </p:sp>
      <p:sp>
        <p:nvSpPr>
          <p:cNvPr id="6203" name="Text Box 59"/>
          <p:cNvSpPr txBox="1">
            <a:spLocks noChangeArrowheads="1"/>
          </p:cNvSpPr>
          <p:nvPr/>
        </p:nvSpPr>
        <p:spPr bwMode="auto">
          <a:xfrm>
            <a:off x="5486400" y="4686300"/>
            <a:ext cx="3657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sz="2800"/>
              <a:t>Nutzungsdauer</a:t>
            </a:r>
          </a:p>
        </p:txBody>
      </p:sp>
      <p:sp>
        <p:nvSpPr>
          <p:cNvPr id="6205" name="Line 61"/>
          <p:cNvSpPr>
            <a:spLocks noChangeShapeType="1"/>
          </p:cNvSpPr>
          <p:nvPr/>
        </p:nvSpPr>
        <p:spPr bwMode="auto">
          <a:xfrm>
            <a:off x="4991100" y="4705350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6206" name="Text Box 62"/>
          <p:cNvSpPr txBox="1">
            <a:spLocks noChangeArrowheads="1"/>
          </p:cNvSpPr>
          <p:nvPr/>
        </p:nvSpPr>
        <p:spPr bwMode="auto">
          <a:xfrm>
            <a:off x="381000" y="5486400"/>
            <a:ext cx="4800600" cy="1576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55000"/>
              </a:lnSpc>
              <a:spcBef>
                <a:spcPct val="50000"/>
              </a:spcBef>
            </a:pPr>
            <a:r>
              <a:rPr lang="de-DE"/>
              <a:t>					</a:t>
            </a:r>
            <a:endParaRPr lang="de-DE" sz="2800"/>
          </a:p>
          <a:p>
            <a:pPr>
              <a:lnSpc>
                <a:spcPct val="55000"/>
              </a:lnSpc>
              <a:spcBef>
                <a:spcPct val="50000"/>
              </a:spcBef>
            </a:pPr>
            <a:r>
              <a:rPr lang="de-DE" b="1"/>
              <a:t>Linearer Abschreibungsbetrag = </a:t>
            </a:r>
          </a:p>
          <a:p>
            <a:pPr>
              <a:lnSpc>
                <a:spcPct val="55000"/>
              </a:lnSpc>
              <a:spcBef>
                <a:spcPct val="50000"/>
              </a:spcBef>
            </a:pPr>
            <a:r>
              <a:rPr lang="de-DE" b="1"/>
              <a:t>	(AfA-Betrag)	</a:t>
            </a:r>
            <a:r>
              <a:rPr lang="de-DE" sz="2800"/>
              <a:t>		</a:t>
            </a:r>
          </a:p>
          <a:p>
            <a:pPr>
              <a:lnSpc>
                <a:spcPct val="55000"/>
              </a:lnSpc>
              <a:spcBef>
                <a:spcPct val="50000"/>
              </a:spcBef>
            </a:pPr>
            <a:endParaRPr lang="de-DE" sz="2800"/>
          </a:p>
        </p:txBody>
      </p:sp>
      <p:sp>
        <p:nvSpPr>
          <p:cNvPr id="6207" name="Line 63"/>
          <p:cNvSpPr>
            <a:spLocks noChangeShapeType="1"/>
          </p:cNvSpPr>
          <p:nvPr/>
        </p:nvSpPr>
        <p:spPr bwMode="auto">
          <a:xfrm>
            <a:off x="4876800" y="5981700"/>
            <a:ext cx="2057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6209" name="Rectangle 65"/>
          <p:cNvSpPr>
            <a:spLocks noChangeArrowheads="1"/>
          </p:cNvSpPr>
          <p:nvPr/>
        </p:nvSpPr>
        <p:spPr bwMode="auto">
          <a:xfrm>
            <a:off x="5086350" y="5562600"/>
            <a:ext cx="1936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dirty="0"/>
              <a:t>60.000,00 </a:t>
            </a:r>
            <a:r>
              <a:rPr lang="de-DE" sz="1800" dirty="0"/>
              <a:t>EUR</a:t>
            </a:r>
          </a:p>
        </p:txBody>
      </p:sp>
      <p:sp>
        <p:nvSpPr>
          <p:cNvPr id="6210" name="Text Box 66"/>
          <p:cNvSpPr txBox="1">
            <a:spLocks noChangeArrowheads="1"/>
          </p:cNvSpPr>
          <p:nvPr/>
        </p:nvSpPr>
        <p:spPr bwMode="auto">
          <a:xfrm>
            <a:off x="5219700" y="5943600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dirty="0"/>
              <a:t>6 Jahre</a:t>
            </a:r>
          </a:p>
        </p:txBody>
      </p:sp>
      <p:sp>
        <p:nvSpPr>
          <p:cNvPr id="6211" name="Text Box 67"/>
          <p:cNvSpPr txBox="1">
            <a:spLocks noChangeArrowheads="1"/>
          </p:cNvSpPr>
          <p:nvPr/>
        </p:nvSpPr>
        <p:spPr bwMode="auto">
          <a:xfrm>
            <a:off x="7029450" y="5753100"/>
            <a:ext cx="533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sz="2800" b="1"/>
              <a:t>=</a:t>
            </a:r>
          </a:p>
        </p:txBody>
      </p:sp>
      <p:sp>
        <p:nvSpPr>
          <p:cNvPr id="6212" name="Text Box 68"/>
          <p:cNvSpPr txBox="1">
            <a:spLocks noChangeArrowheads="1"/>
          </p:cNvSpPr>
          <p:nvPr/>
        </p:nvSpPr>
        <p:spPr bwMode="auto">
          <a:xfrm>
            <a:off x="7315200" y="5638800"/>
            <a:ext cx="1828800" cy="757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de-DE" dirty="0"/>
              <a:t>10.000,00 </a:t>
            </a:r>
            <a:r>
              <a:rPr lang="de-DE" sz="1800" dirty="0"/>
              <a:t>€</a:t>
            </a:r>
          </a:p>
          <a:p>
            <a:pPr>
              <a:lnSpc>
                <a:spcPct val="90000"/>
              </a:lnSpc>
            </a:pPr>
            <a:r>
              <a:rPr lang="de-DE" dirty="0"/>
              <a:t>   pro Jahr</a:t>
            </a:r>
          </a:p>
        </p:txBody>
      </p:sp>
      <p:sp>
        <p:nvSpPr>
          <p:cNvPr id="6214" name="Rectangle 70"/>
          <p:cNvSpPr>
            <a:spLocks noChangeArrowheads="1"/>
          </p:cNvSpPr>
          <p:nvPr/>
        </p:nvSpPr>
        <p:spPr bwMode="auto">
          <a:xfrm>
            <a:off x="342900" y="152400"/>
            <a:ext cx="8458200" cy="8382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de-DE" sz="3600">
                <a:solidFill>
                  <a:schemeClr val="tx2"/>
                </a:solidFill>
              </a:rPr>
              <a:t>Berechnung der Abschreibung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utoUpdateAnimBg="0"/>
      <p:bldP spid="6148" grpId="0" autoUpdateAnimBg="0"/>
      <p:bldP spid="6149" grpId="0" animBg="1" autoUpdateAnimBg="0"/>
      <p:bldP spid="6150" grpId="0" autoUpdateAnimBg="0"/>
      <p:bldP spid="6201" grpId="0" autoUpdateAnimBg="0"/>
      <p:bldP spid="6203" grpId="0" autoUpdateAnimBg="0"/>
      <p:bldP spid="6205" grpId="0" animBg="1"/>
      <p:bldP spid="6206" grpId="0" autoUpdateAnimBg="0"/>
      <p:bldP spid="6207" grpId="0" animBg="1"/>
      <p:bldP spid="6209" grpId="0" autoUpdateAnimBg="0"/>
      <p:bldP spid="6210" grpId="0" autoUpdateAnimBg="0"/>
      <p:bldP spid="6211" grpId="0" autoUpdateAnimBg="0"/>
      <p:bldP spid="621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26"/>
          <p:cNvSpPr>
            <a:spLocks noChangeArrowheads="1"/>
          </p:cNvSpPr>
          <p:nvPr/>
        </p:nvSpPr>
        <p:spPr bwMode="auto">
          <a:xfrm>
            <a:off x="533400" y="228600"/>
            <a:ext cx="7924800" cy="2195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Font typeface="Times New Roman" pitchFamily="18" charset="0"/>
              <a:buNone/>
            </a:pPr>
            <a:endParaRPr lang="de-DE" sz="2800" b="1"/>
          </a:p>
          <a:p>
            <a:pPr lvl="1" eaLnBrk="0" hangingPunct="0">
              <a:lnSpc>
                <a:spcPct val="125000"/>
              </a:lnSpc>
              <a:buFontTx/>
              <a:buBlip>
                <a:blip r:embed="rId2"/>
              </a:buBlip>
            </a:pPr>
            <a:r>
              <a:rPr lang="de-DE"/>
              <a:t>	</a:t>
            </a:r>
            <a:r>
              <a:rPr lang="de-DE" sz="2000"/>
              <a:t>die Abschreibung erfolgt stets in einem gleichbleibenden 	Prozentsatz (=Abschreibungssatz) von den </a:t>
            </a:r>
            <a:r>
              <a:rPr lang="de-DE" sz="2000" b="1"/>
              <a:t>Anschaffungskosten</a:t>
            </a:r>
            <a:r>
              <a:rPr lang="de-DE" sz="2000"/>
              <a:t> 	des Anlagegutes</a:t>
            </a:r>
          </a:p>
          <a:p>
            <a:pPr eaLnBrk="0" hangingPunct="0">
              <a:spcBef>
                <a:spcPct val="50000"/>
              </a:spcBef>
            </a:pPr>
            <a:endParaRPr lang="de-DE" sz="2000"/>
          </a:p>
        </p:txBody>
      </p:sp>
      <p:sp>
        <p:nvSpPr>
          <p:cNvPr id="13315" name="Text Box 1027"/>
          <p:cNvSpPr txBox="1">
            <a:spLocks noChangeArrowheads="1"/>
          </p:cNvSpPr>
          <p:nvPr/>
        </p:nvSpPr>
        <p:spPr bwMode="auto">
          <a:xfrm>
            <a:off x="609600" y="304800"/>
            <a:ext cx="7772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de-DE" sz="2800" b="1"/>
              <a:t>I.  Die lineare Abschreibung</a:t>
            </a:r>
          </a:p>
        </p:txBody>
      </p:sp>
      <p:sp>
        <p:nvSpPr>
          <p:cNvPr id="13316" name="Text Box 1028"/>
          <p:cNvSpPr txBox="1">
            <a:spLocks noChangeArrowheads="1"/>
          </p:cNvSpPr>
          <p:nvPr/>
        </p:nvSpPr>
        <p:spPr bwMode="auto">
          <a:xfrm>
            <a:off x="914400" y="1981200"/>
            <a:ext cx="7391400" cy="7953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de-DE" dirty="0"/>
              <a:t>Bsp.: 	Anschaffungskosten: 60.000,00 EUR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de-DE" dirty="0"/>
              <a:t>	Nutzungsdauer: 6 Jahre</a:t>
            </a:r>
          </a:p>
        </p:txBody>
      </p:sp>
      <p:sp>
        <p:nvSpPr>
          <p:cNvPr id="13317" name="Text Box 1029"/>
          <p:cNvSpPr txBox="1">
            <a:spLocks noChangeArrowheads="1"/>
          </p:cNvSpPr>
          <p:nvPr/>
        </p:nvSpPr>
        <p:spPr bwMode="auto">
          <a:xfrm>
            <a:off x="304800" y="2971800"/>
            <a:ext cx="4800600" cy="1576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55000"/>
              </a:lnSpc>
              <a:spcBef>
                <a:spcPct val="50000"/>
              </a:spcBef>
            </a:pPr>
            <a:r>
              <a:rPr lang="de-DE"/>
              <a:t>					</a:t>
            </a:r>
            <a:endParaRPr lang="de-DE" sz="2800"/>
          </a:p>
          <a:p>
            <a:pPr>
              <a:lnSpc>
                <a:spcPct val="55000"/>
              </a:lnSpc>
              <a:spcBef>
                <a:spcPct val="50000"/>
              </a:spcBef>
            </a:pPr>
            <a:r>
              <a:rPr lang="de-DE" b="1"/>
              <a:t>Linearer Abschreibungssatz = </a:t>
            </a:r>
          </a:p>
          <a:p>
            <a:pPr>
              <a:lnSpc>
                <a:spcPct val="55000"/>
              </a:lnSpc>
              <a:spcBef>
                <a:spcPct val="50000"/>
              </a:spcBef>
            </a:pPr>
            <a:r>
              <a:rPr lang="de-DE" b="1"/>
              <a:t>	(AfA-Satz)		</a:t>
            </a:r>
            <a:r>
              <a:rPr lang="de-DE" sz="2800"/>
              <a:t>	</a:t>
            </a:r>
          </a:p>
          <a:p>
            <a:pPr>
              <a:lnSpc>
                <a:spcPct val="55000"/>
              </a:lnSpc>
              <a:spcBef>
                <a:spcPct val="50000"/>
              </a:spcBef>
            </a:pPr>
            <a:endParaRPr lang="de-DE" sz="2800"/>
          </a:p>
        </p:txBody>
      </p:sp>
      <p:sp>
        <p:nvSpPr>
          <p:cNvPr id="13318" name="Text Box 1030"/>
          <p:cNvSpPr txBox="1">
            <a:spLocks noChangeArrowheads="1"/>
          </p:cNvSpPr>
          <p:nvPr/>
        </p:nvSpPr>
        <p:spPr bwMode="auto">
          <a:xfrm>
            <a:off x="5181600" y="2971800"/>
            <a:ext cx="3657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sz="2800"/>
              <a:t>100 %</a:t>
            </a:r>
          </a:p>
        </p:txBody>
      </p:sp>
      <p:sp>
        <p:nvSpPr>
          <p:cNvPr id="13319" name="Text Box 1031"/>
          <p:cNvSpPr txBox="1">
            <a:spLocks noChangeArrowheads="1"/>
          </p:cNvSpPr>
          <p:nvPr/>
        </p:nvSpPr>
        <p:spPr bwMode="auto">
          <a:xfrm>
            <a:off x="4953000" y="3505200"/>
            <a:ext cx="3657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sz="2800"/>
              <a:t>Nutzungsdauer</a:t>
            </a:r>
          </a:p>
        </p:txBody>
      </p:sp>
      <p:sp>
        <p:nvSpPr>
          <p:cNvPr id="13320" name="Line 1032"/>
          <p:cNvSpPr>
            <a:spLocks noChangeShapeType="1"/>
          </p:cNvSpPr>
          <p:nvPr/>
        </p:nvSpPr>
        <p:spPr bwMode="auto">
          <a:xfrm>
            <a:off x="4495800" y="3448050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3321" name="Text Box 1033"/>
          <p:cNvSpPr txBox="1">
            <a:spLocks noChangeArrowheads="1"/>
          </p:cNvSpPr>
          <p:nvPr/>
        </p:nvSpPr>
        <p:spPr bwMode="auto">
          <a:xfrm>
            <a:off x="381000" y="4724400"/>
            <a:ext cx="4800600" cy="1576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55000"/>
              </a:lnSpc>
              <a:spcBef>
                <a:spcPct val="50000"/>
              </a:spcBef>
            </a:pPr>
            <a:r>
              <a:rPr lang="de-DE"/>
              <a:t>					</a:t>
            </a:r>
            <a:endParaRPr lang="de-DE" sz="2800"/>
          </a:p>
          <a:p>
            <a:pPr>
              <a:lnSpc>
                <a:spcPct val="55000"/>
              </a:lnSpc>
              <a:spcBef>
                <a:spcPct val="50000"/>
              </a:spcBef>
            </a:pPr>
            <a:r>
              <a:rPr lang="de-DE" b="1"/>
              <a:t>Linearer Abschreibungssatz = </a:t>
            </a:r>
          </a:p>
          <a:p>
            <a:pPr>
              <a:lnSpc>
                <a:spcPct val="55000"/>
              </a:lnSpc>
              <a:spcBef>
                <a:spcPct val="50000"/>
              </a:spcBef>
            </a:pPr>
            <a:r>
              <a:rPr lang="de-DE" b="1"/>
              <a:t>	(AfA-Satz)	</a:t>
            </a:r>
            <a:r>
              <a:rPr lang="de-DE" sz="2800"/>
              <a:t>		</a:t>
            </a:r>
          </a:p>
          <a:p>
            <a:pPr>
              <a:lnSpc>
                <a:spcPct val="55000"/>
              </a:lnSpc>
              <a:spcBef>
                <a:spcPct val="50000"/>
              </a:spcBef>
            </a:pPr>
            <a:endParaRPr lang="de-DE" sz="2800"/>
          </a:p>
        </p:txBody>
      </p:sp>
      <p:sp>
        <p:nvSpPr>
          <p:cNvPr id="13322" name="Line 1034"/>
          <p:cNvSpPr>
            <a:spLocks noChangeShapeType="1"/>
          </p:cNvSpPr>
          <p:nvPr/>
        </p:nvSpPr>
        <p:spPr bwMode="auto">
          <a:xfrm>
            <a:off x="4876800" y="5219700"/>
            <a:ext cx="2057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3323" name="Rectangle 1035"/>
          <p:cNvSpPr>
            <a:spLocks noChangeArrowheads="1"/>
          </p:cNvSpPr>
          <p:nvPr/>
        </p:nvSpPr>
        <p:spPr bwMode="auto">
          <a:xfrm>
            <a:off x="5086350" y="4800600"/>
            <a:ext cx="1047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/>
              <a:t>100  %</a:t>
            </a:r>
          </a:p>
        </p:txBody>
      </p:sp>
      <p:sp>
        <p:nvSpPr>
          <p:cNvPr id="13324" name="Text Box 1036"/>
          <p:cNvSpPr txBox="1">
            <a:spLocks noChangeArrowheads="1"/>
          </p:cNvSpPr>
          <p:nvPr/>
        </p:nvSpPr>
        <p:spPr bwMode="auto">
          <a:xfrm>
            <a:off x="5219700" y="5181600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dirty="0"/>
              <a:t>6 Jahre</a:t>
            </a:r>
          </a:p>
        </p:txBody>
      </p:sp>
      <p:sp>
        <p:nvSpPr>
          <p:cNvPr id="13325" name="Text Box 1037"/>
          <p:cNvSpPr txBox="1">
            <a:spLocks noChangeArrowheads="1"/>
          </p:cNvSpPr>
          <p:nvPr/>
        </p:nvSpPr>
        <p:spPr bwMode="auto">
          <a:xfrm>
            <a:off x="7029450" y="4991100"/>
            <a:ext cx="533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sz="2800" b="1"/>
              <a:t>=</a:t>
            </a:r>
          </a:p>
        </p:txBody>
      </p:sp>
      <p:sp>
        <p:nvSpPr>
          <p:cNvPr id="13326" name="Text Box 1038"/>
          <p:cNvSpPr txBox="1">
            <a:spLocks noChangeArrowheads="1"/>
          </p:cNvSpPr>
          <p:nvPr/>
        </p:nvSpPr>
        <p:spPr bwMode="auto">
          <a:xfrm>
            <a:off x="7372350" y="5105400"/>
            <a:ext cx="1771650" cy="681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  <a:spcBef>
                <a:spcPct val="35000"/>
              </a:spcBef>
            </a:pPr>
            <a:r>
              <a:rPr lang="de-DE" dirty="0"/>
              <a:t>16 2/3 %   </a:t>
            </a:r>
          </a:p>
          <a:p>
            <a:pPr>
              <a:lnSpc>
                <a:spcPct val="60000"/>
              </a:lnSpc>
              <a:spcBef>
                <a:spcPct val="35000"/>
              </a:spcBef>
            </a:pPr>
            <a:r>
              <a:rPr lang="de-DE" dirty="0"/>
              <a:t>pro Jahr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autoUpdateAnimBg="0"/>
      <p:bldP spid="13315" grpId="0" autoUpdateAnimBg="0"/>
      <p:bldP spid="13316" grpId="0" animBg="1" autoUpdateAnimBg="0"/>
      <p:bldP spid="13317" grpId="0" autoUpdateAnimBg="0"/>
      <p:bldP spid="13318" grpId="0" autoUpdateAnimBg="0"/>
      <p:bldP spid="13319" grpId="0" autoUpdateAnimBg="0"/>
      <p:bldP spid="13320" grpId="0" animBg="1"/>
      <p:bldP spid="13321" grpId="0" autoUpdateAnimBg="0"/>
      <p:bldP spid="13322" grpId="0" animBg="1"/>
      <p:bldP spid="13323" grpId="0" autoUpdateAnimBg="0"/>
      <p:bldP spid="13324" grpId="0" autoUpdateAnimBg="0"/>
      <p:bldP spid="13325" grpId="0" autoUpdateAnimBg="0"/>
      <p:bldP spid="13326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026"/>
          <p:cNvSpPr>
            <a:spLocks noGrp="1" noChangeArrowheads="1"/>
          </p:cNvSpPr>
          <p:nvPr>
            <p:ph type="title"/>
          </p:nvPr>
        </p:nvSpPr>
        <p:spPr>
          <a:solidFill>
            <a:srgbClr val="FFFF99"/>
          </a:solidFill>
        </p:spPr>
        <p:txBody>
          <a:bodyPr/>
          <a:lstStyle/>
          <a:p>
            <a:r>
              <a:rPr lang="de-DE" sz="4800" dirty="0"/>
              <a:t>Erforderliche Buchungssätze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idx="1"/>
          </p:nvPr>
        </p:nvSpPr>
        <p:spPr>
          <a:xfrm>
            <a:off x="467544" y="1981200"/>
            <a:ext cx="8064896" cy="4114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Buchungssatz für den Zielkauf des </a:t>
            </a:r>
            <a:r>
              <a:rPr lang="de-DE" dirty="0" err="1"/>
              <a:t>PKW´s</a:t>
            </a:r>
            <a:br>
              <a:rPr lang="de-DE" dirty="0"/>
            </a:br>
            <a:r>
              <a:rPr lang="de-DE" dirty="0">
                <a:solidFill>
                  <a:srgbClr val="FF0000"/>
                </a:solidFill>
              </a:rPr>
              <a:t>Fuhrpark                              60.000,00</a:t>
            </a:r>
            <a:br>
              <a:rPr lang="de-DE" dirty="0">
                <a:solidFill>
                  <a:srgbClr val="FF0000"/>
                </a:solidFill>
              </a:rPr>
            </a:br>
            <a:r>
              <a:rPr lang="de-DE" dirty="0">
                <a:solidFill>
                  <a:srgbClr val="FF0000"/>
                </a:solidFill>
              </a:rPr>
              <a:t>an Verbindlichkeiten           60.000,00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Buchungssatz für den betrieblichen Einsatz im ersten Nutzungsjahr</a:t>
            </a:r>
            <a:br>
              <a:rPr lang="de-DE" dirty="0"/>
            </a:br>
            <a:r>
              <a:rPr lang="de-DE" dirty="0">
                <a:solidFill>
                  <a:srgbClr val="FF0000"/>
                </a:solidFill>
              </a:rPr>
              <a:t>Aufwendungen für Abschreibung</a:t>
            </a:r>
            <a:r>
              <a:rPr lang="de-DE" dirty="0"/>
              <a:t>  </a:t>
            </a:r>
            <a:r>
              <a:rPr lang="de-DE" dirty="0">
                <a:solidFill>
                  <a:srgbClr val="FF0000"/>
                </a:solidFill>
              </a:rPr>
              <a:t>10.000,00</a:t>
            </a:r>
            <a:br>
              <a:rPr lang="de-DE" dirty="0">
                <a:solidFill>
                  <a:srgbClr val="FF0000"/>
                </a:solidFill>
              </a:rPr>
            </a:br>
            <a:r>
              <a:rPr lang="de-DE" dirty="0">
                <a:solidFill>
                  <a:srgbClr val="FF0000"/>
                </a:solidFill>
              </a:rPr>
              <a:t>an Fuhrpark                                    10.000,00</a:t>
            </a:r>
            <a:br>
              <a:rPr lang="de-DE" dirty="0"/>
            </a:b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09600"/>
            <a:ext cx="8424936" cy="1143000"/>
          </a:xfrm>
          <a:solidFill>
            <a:srgbClr val="FFFF00"/>
          </a:solidFill>
        </p:spPr>
        <p:txBody>
          <a:bodyPr/>
          <a:lstStyle/>
          <a:p>
            <a:r>
              <a:rPr lang="de-DE" sz="3600" b="1" dirty="0"/>
              <a:t>Auswirkungen von Kauf und Nutzung von Anlagevermögen auf Bilanz und G+V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79512" y="1981200"/>
            <a:ext cx="8964488" cy="4114800"/>
          </a:xfrm>
        </p:spPr>
        <p:txBody>
          <a:bodyPr/>
          <a:lstStyle/>
          <a:p>
            <a:r>
              <a:rPr lang="de-DE" dirty="0"/>
              <a:t>Kauf eines Anlagegutes</a:t>
            </a:r>
            <a:br>
              <a:rPr lang="de-DE" dirty="0"/>
            </a:br>
            <a:r>
              <a:rPr lang="de-DE" dirty="0"/>
              <a:t>- Bilanz: Aktivtausch oder AktivPassiv Mehrung</a:t>
            </a:r>
            <a:br>
              <a:rPr lang="de-DE" dirty="0"/>
            </a:br>
            <a:r>
              <a:rPr lang="de-DE" dirty="0"/>
              <a:t>- G+ V:   keine Auswirkungen</a:t>
            </a:r>
            <a:br>
              <a:rPr lang="de-DE" dirty="0"/>
            </a:br>
            <a:endParaRPr lang="de-DE" dirty="0"/>
          </a:p>
          <a:p>
            <a:r>
              <a:rPr lang="de-DE" dirty="0"/>
              <a:t>Nutzung eines Anlagegutes (durch Abschreibung)</a:t>
            </a:r>
            <a:br>
              <a:rPr lang="de-DE" dirty="0"/>
            </a:br>
            <a:r>
              <a:rPr lang="de-DE" dirty="0"/>
              <a:t>- Bilanz: Wertminderung beim Anlagevermögen</a:t>
            </a:r>
            <a:br>
              <a:rPr lang="de-DE" dirty="0"/>
            </a:br>
            <a:r>
              <a:rPr lang="de-DE" dirty="0"/>
              <a:t>- G+V:   Abschreibungsaufwand verringert Gewinn</a:t>
            </a:r>
          </a:p>
          <a:p>
            <a:endParaRPr lang="de-DE" dirty="0"/>
          </a:p>
          <a:p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947192"/>
          </a:xfrm>
          <a:solidFill>
            <a:srgbClr val="FFFF00"/>
          </a:solidFill>
        </p:spPr>
        <p:txBody>
          <a:bodyPr/>
          <a:lstStyle/>
          <a:p>
            <a:r>
              <a:rPr lang="de-DE" sz="3600" dirty="0"/>
              <a:t>Ergänzung: Zeitanteilige Abschreibung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5800" y="1981200"/>
            <a:ext cx="8062664" cy="4114800"/>
          </a:xfrm>
        </p:spPr>
        <p:txBody>
          <a:bodyPr/>
          <a:lstStyle/>
          <a:p>
            <a:r>
              <a:rPr lang="de-DE" dirty="0"/>
              <a:t>Erfolgt die Anschaffung während des Jahres,  wird lediglich der monatliche Anteil der Jahresabschreibung erfasst!</a:t>
            </a:r>
          </a:p>
          <a:p>
            <a:r>
              <a:rPr lang="de-DE" dirty="0">
                <a:solidFill>
                  <a:srgbClr val="FF0000"/>
                </a:solidFill>
              </a:rPr>
              <a:t>Beispiel:</a:t>
            </a:r>
            <a:r>
              <a:rPr lang="de-DE" dirty="0"/>
              <a:t> Anschaffung AV im Wert von</a:t>
            </a:r>
            <a:br>
              <a:rPr lang="de-DE" dirty="0"/>
            </a:br>
            <a:r>
              <a:rPr lang="de-DE" dirty="0"/>
              <a:t>                netto 20.000.00 €,  am 23.10.2023,</a:t>
            </a:r>
            <a:br>
              <a:rPr lang="de-DE" dirty="0"/>
            </a:br>
            <a:r>
              <a:rPr lang="de-DE" dirty="0"/>
              <a:t>                Nutzungsdauer 5 Jahre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Abschreibung = 20000/5 /12  *3 = 1.000 €</a:t>
            </a:r>
            <a:br>
              <a:rPr lang="de-DE" dirty="0"/>
            </a:br>
            <a:br>
              <a:rPr lang="de-DE" dirty="0"/>
            </a:b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1115616" y="-8442393"/>
            <a:ext cx="7488832" cy="14391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kumimoji="0" lang="de-DE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lang="de-DE" sz="2200" b="1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kumimoji="0" lang="de-DE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lang="de-DE" sz="2200" b="1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kumimoji="0" lang="de-DE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lang="de-DE" sz="2200" b="1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kumimoji="0" lang="de-DE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lang="de-DE" sz="2200" b="1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kumimoji="0" lang="de-DE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lang="de-DE" sz="2200" b="1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kumimoji="0" lang="de-DE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lang="de-DE" sz="2200" b="1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kumimoji="0" lang="de-DE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lang="de-DE" sz="2200" b="1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kumimoji="0" lang="de-DE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lang="de-DE" sz="2200" b="1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kumimoji="0" lang="de-DE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lang="de-DE" sz="2200" b="1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kumimoji="0" lang="de-DE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lang="de-DE" sz="2200" b="1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kumimoji="0" lang="de-DE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lang="de-DE" sz="2200" b="1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kumimoji="0" lang="de-DE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lang="de-DE" sz="2200" b="1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kumimoji="0" lang="de-DE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lang="de-DE" sz="2200" b="1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kumimoji="0" lang="de-DE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lang="de-DE" sz="2200" b="1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r>
              <a:rPr kumimoji="0" lang="de-DE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Bewertungsvorschriften des Anlagevermögens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r>
              <a:rPr lang="de-DE" sz="1800" b="1" dirty="0">
                <a:latin typeface="Arial" pitchFamily="34" charset="0"/>
                <a:cs typeface="Arial" pitchFamily="34" charset="0"/>
              </a:rPr>
              <a:t>[vgl. Lehrbuch Kap. C 7.2 S. 237 - 240 und D 4.5 S. 301 f.]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endParaRPr kumimoji="0" 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r>
              <a:rPr kumimoji="0" 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Anschaffungswertprinzip</a:t>
            </a:r>
            <a:r>
              <a:rPr kumimoji="0" 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(vgl. § 255 Abs. 1 HGB)</a:t>
            </a:r>
            <a:br>
              <a:rPr kumimoji="0" 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Gegenstände des Anlagevermögens sind zum Zeitpunkt der Beschaffung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mit ihren Anschaffungskosten auf dem entsprechenden Anlagekonto zu aktivieren.</a:t>
            </a:r>
            <a:br>
              <a:rPr kumimoji="0" 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Anschaffungskosten</a:t>
            </a:r>
            <a:r>
              <a:rPr kumimoji="0" 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umfassen:</a:t>
            </a:r>
            <a:br>
              <a:rPr kumimoji="0" 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Anschaffungspreis</a:t>
            </a:r>
            <a:br>
              <a:rPr kumimoji="0" 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+	Anschaffungsnebenkosten</a:t>
            </a:r>
            <a:br>
              <a:rPr kumimoji="0" 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(um einen Gegenstand in betriebsbereiten Zustand zu setzen)</a:t>
            </a:r>
            <a:br>
              <a:rPr kumimoji="0" 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+	nachträgliche Anschaffungskosten</a:t>
            </a:r>
            <a:br>
              <a:rPr kumimoji="0" 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(zu einer verbesserten Nutzung und somit zur Wertsteigerung des  Anlagegutes)</a:t>
            </a:r>
            <a:br>
              <a:rPr kumimoji="0" 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-	Anschaffungspreisminderungen</a:t>
            </a:r>
            <a:r>
              <a:rPr kumimoji="0" 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(auch nachträglich )</a:t>
            </a:r>
            <a:br>
              <a:rPr kumimoji="0" 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(z.B.: Rabatte, Skonto, Boni)</a:t>
            </a:r>
            <a:br>
              <a:rPr kumimoji="0" 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br>
              <a:rPr kumimoji="0" 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endParaRPr kumimoji="0" lang="de-DE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r>
              <a:rPr kumimoji="0" 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Herstellungskosten bei selbsterstellten Vermögensgegenständen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r>
              <a:rPr kumimoji="0" 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(vgl. §255 Abs.2u.3 HGB)</a:t>
            </a:r>
            <a:br>
              <a:rPr kumimoji="0" 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br>
              <a:rPr kumimoji="0" 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endParaRPr kumimoji="0" 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 noChangeArrowheads="1"/>
          </p:cNvSpPr>
          <p:nvPr/>
        </p:nvSpPr>
        <p:spPr bwMode="auto">
          <a:xfrm>
            <a:off x="611560" y="1293154"/>
            <a:ext cx="7992888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r>
              <a:rPr kumimoji="0" 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Abschreibungsprinzip</a:t>
            </a:r>
            <a:r>
              <a:rPr kumimoji="0" 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(vgl. § 253 Abs. 2 HGB)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br>
              <a:rPr kumimoji="0" lang="de-DE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de-DE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Planmäßige </a:t>
            </a:r>
            <a:r>
              <a:rPr kumimoji="0" 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Abschreibung</a:t>
            </a:r>
            <a:r>
              <a:rPr kumimoji="0" 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erfordert:</a:t>
            </a:r>
            <a:br>
              <a:rPr kumimoji="0" 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-	Abschreibungsausgangswert</a:t>
            </a:r>
            <a:br>
              <a:rPr kumimoji="0" 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= Anschaffungswert oder Herstellungskosten - erwarteter Restwert</a:t>
            </a:r>
            <a:b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-	wirtschaftlich sinnvolle Nutzungsdauer</a:t>
            </a:r>
            <a:br>
              <a:rPr kumimoji="0" 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Für die Steuerbilanz gelten AfA (Absetzung für Abnutzung) Tabellen für</a:t>
            </a:r>
            <a:b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betriebsgewöhnliche Nutzungsdauer</a:t>
            </a:r>
            <a:b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-	</a:t>
            </a:r>
            <a:r>
              <a:rPr kumimoji="0" 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Abschreibungsmethoden </a:t>
            </a:r>
            <a:r>
              <a:rPr kumimoji="0" 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(steuerrechtlich erlaubte Methoden)</a:t>
            </a:r>
            <a:b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</a:t>
            </a:r>
            <a:r>
              <a:rPr kumimoji="0" lang="de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- leistungsabhängige Abschreibung</a:t>
            </a:r>
            <a:br>
              <a:rPr kumimoji="0" lang="de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	Für die Steuerbilanz nur für bewegliche, abnutzbare Anlagegegenstände </a:t>
            </a:r>
            <a:b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de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- lineare Abschreibung </a:t>
            </a: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(steuerrechtlich und handelsrechtlich erlaubt)</a:t>
            </a:r>
            <a:b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</a:t>
            </a:r>
            <a:r>
              <a:rPr kumimoji="0" lang="de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- degressive Abschreibung </a:t>
            </a:r>
            <a:br>
              <a:rPr kumimoji="0" lang="de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de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	</a:t>
            </a: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(steuerrechtlich nur </a:t>
            </a:r>
            <a:r>
              <a:rPr kumimoji="0" lang="de-DE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phasenweise erlaubt)</a:t>
            </a:r>
            <a:b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- </a:t>
            </a:r>
            <a:r>
              <a:rPr kumimoji="0" lang="de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Wechsel von degressiver auf lineare Abschreibung ist während der </a:t>
            </a:r>
            <a:br>
              <a:rPr kumimoji="0" lang="de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de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	Nutzungsdauer möglich!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br>
              <a:rPr kumimoji="0" lang="de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de-DE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Außerplanmäßige</a:t>
            </a:r>
            <a:r>
              <a:rPr kumimoji="0" 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Abschreibung</a:t>
            </a:r>
            <a:br>
              <a:rPr kumimoji="0" 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kommt sowohl bei zeitlich begrenzter als auch zeitlich unbegrenzter Nutzungsdauer in Betracht.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Sie darf bzw. muss bei einer einmaligen Wertminderung durchgeführt werden.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  <a:tab pos="630238" algn="l"/>
                <a:tab pos="3060700" algn="l"/>
                <a:tab pos="4230688" algn="l"/>
              </a:tabLst>
            </a:pP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Es gilt das </a:t>
            </a:r>
            <a:r>
              <a:rPr kumimoji="0" lang="de-DE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gemilderte Niederstwertprinzip</a:t>
            </a: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(§ 253,Abs. 2, S 3 HGB)</a:t>
            </a:r>
            <a:endParaRPr kumimoji="0" lang="de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892</Words>
  <Application>Microsoft Office PowerPoint</Application>
  <PresentationFormat>Bildschirmpräsentation (4:3)</PresentationFormat>
  <Paragraphs>244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Arial</vt:lpstr>
      <vt:lpstr>Arial Unicode MS</vt:lpstr>
      <vt:lpstr>MS Sans</vt:lpstr>
      <vt:lpstr>Times New Roman</vt:lpstr>
      <vt:lpstr>Standarddesign</vt:lpstr>
      <vt:lpstr>PowerPoint-Präsentation</vt:lpstr>
      <vt:lpstr>Gründe für die Wertminderung</vt:lpstr>
      <vt:lpstr>PowerPoint-Präsentation</vt:lpstr>
      <vt:lpstr>PowerPoint-Präsentation</vt:lpstr>
      <vt:lpstr>PowerPoint-Präsentation</vt:lpstr>
      <vt:lpstr>PowerPoint-Präsentation</vt:lpstr>
      <vt:lpstr>Erforderliche Buchungssätze</vt:lpstr>
      <vt:lpstr>Auswirkungen von Kauf und Nutzung von Anlagevermögen auf Bilanz und G+V</vt:lpstr>
      <vt:lpstr>Ergänzung: Zeitanteilige Abschreibung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Metzger</dc:creator>
  <cp:lastModifiedBy>Ralph Hoffmann</cp:lastModifiedBy>
  <cp:revision>58</cp:revision>
  <dcterms:created xsi:type="dcterms:W3CDTF">2000-05-21T09:34:54Z</dcterms:created>
  <dcterms:modified xsi:type="dcterms:W3CDTF">2024-05-21T14:38:45Z</dcterms:modified>
</cp:coreProperties>
</file>