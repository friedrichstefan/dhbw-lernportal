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86" r:id="rId2"/>
    <p:sldId id="287" r:id="rId3"/>
    <p:sldId id="288" r:id="rId4"/>
  </p:sldIdLst>
  <p:sldSz cx="9144000" cy="6858000" type="screen4x3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FFB9B9"/>
    <a:srgbClr val="F8A968"/>
    <a:srgbClr val="FFFFCC"/>
    <a:srgbClr val="FFFFFF"/>
    <a:srgbClr val="FFE0C1"/>
    <a:srgbClr val="FF0000"/>
    <a:srgbClr val="FF4F4F"/>
    <a:srgbClr val="66FF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9635" autoAdjust="0"/>
  </p:normalViewPr>
  <p:slideViewPr>
    <p:cSldViewPr>
      <p:cViewPr varScale="1">
        <p:scale>
          <a:sx n="100" d="100"/>
          <a:sy n="100" d="100"/>
        </p:scale>
        <p:origin x="52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8168F-A547-411B-8DDB-A8BC007EFD7C}" type="datetimeFigureOut">
              <a:rPr lang="de-DE" smtClean="0"/>
              <a:pPr/>
              <a:t>12.06.2024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4E401-A18A-4989-87CA-7B8C456959B5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611560" y="404664"/>
            <a:ext cx="79928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>
              <a:buFont typeface="Arial" pitchFamily="34" charset="0"/>
              <a:buChar char="•"/>
            </a:pPr>
            <a:r>
              <a:rPr lang="de-DE" dirty="0"/>
              <a:t> Gliederung nach dem Bilanzgliederungsprinzip (§266 HGB Bilanz) [vgl. B.S. 97-100]</a:t>
            </a:r>
          </a:p>
          <a:p>
            <a:pPr>
              <a:buFont typeface="Arial" pitchFamily="34" charset="0"/>
              <a:buChar char="•"/>
            </a:pPr>
            <a:r>
              <a:rPr lang="de-DE" dirty="0"/>
              <a:t> Zweikreissystem</a:t>
            </a:r>
          </a:p>
          <a:p>
            <a:pPr lvl="1">
              <a:buFont typeface="Arial" pitchFamily="34" charset="0"/>
              <a:buChar char="•"/>
            </a:pPr>
            <a:r>
              <a:rPr lang="de-DE" dirty="0"/>
              <a:t> Rechnungskreis I (Finanzbuchhaltung)</a:t>
            </a:r>
          </a:p>
          <a:p>
            <a:pPr lvl="1">
              <a:buFont typeface="Arial" pitchFamily="34" charset="0"/>
              <a:buChar char="•"/>
            </a:pPr>
            <a:r>
              <a:rPr lang="de-DE" dirty="0"/>
              <a:t> Rechnungskreis II (KLR)</a:t>
            </a:r>
          </a:p>
          <a:p>
            <a:pPr lvl="1"/>
            <a:endParaRPr lang="de-DE" dirty="0"/>
          </a:p>
          <a:p>
            <a:pPr>
              <a:buFont typeface="Arial" pitchFamily="34" charset="0"/>
              <a:buChar char="•"/>
            </a:pPr>
            <a:endParaRPr lang="de-DE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973000"/>
              </p:ext>
            </p:extLst>
          </p:nvPr>
        </p:nvGraphicFramePr>
        <p:xfrm>
          <a:off x="683568" y="2204867"/>
          <a:ext cx="7992888" cy="4208856"/>
        </p:xfrm>
        <a:graphic>
          <a:graphicData uri="http://schemas.openxmlformats.org/drawingml/2006/table">
            <a:tbl>
              <a:tblPr/>
              <a:tblGrid>
                <a:gridCol w="1998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359">
                <a:tc gridSpan="4">
                  <a:txBody>
                    <a:bodyPr/>
                    <a:lstStyle/>
                    <a:p>
                      <a:r>
                        <a:rPr lang="de-DE" sz="1600" dirty="0"/>
                        <a:t>Kontenklasse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59">
                <a:tc>
                  <a:txBody>
                    <a:bodyPr/>
                    <a:lstStyle/>
                    <a:p>
                      <a:r>
                        <a:rPr lang="de-DE" sz="1400" dirty="0"/>
                        <a:t>0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r>
                        <a:rPr lang="de-DE" sz="1600" dirty="0"/>
                        <a:t>Bestandskonten</a:t>
                      </a:r>
                      <a:r>
                        <a:rPr lang="de-DE" sz="1400" dirty="0"/>
                        <a:t>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de-DE" sz="1600" dirty="0"/>
                        <a:t>Aktive Bestandskonten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de-DE" sz="1400" dirty="0"/>
                        <a:t>Anlagevermögen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59">
                <a:tc>
                  <a:txBody>
                    <a:bodyPr/>
                    <a:lstStyle/>
                    <a:p>
                      <a:r>
                        <a:rPr lang="de-DE" sz="1400" dirty="0"/>
                        <a:t>1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59">
                <a:tc>
                  <a:txBody>
                    <a:bodyPr/>
                    <a:lstStyle/>
                    <a:p>
                      <a:r>
                        <a:rPr lang="de-DE" sz="1400" dirty="0"/>
                        <a:t>2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Umlaufvermögen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210">
                <a:tc>
                  <a:txBody>
                    <a:bodyPr/>
                    <a:lstStyle/>
                    <a:p>
                      <a:r>
                        <a:rPr lang="de-DE" sz="1400" dirty="0"/>
                        <a:t>3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de-DE" sz="1600" dirty="0"/>
                        <a:t>Passive Bestandskonten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Eigenkapital und Rückstellungen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59">
                <a:tc>
                  <a:txBody>
                    <a:bodyPr/>
                    <a:lstStyle/>
                    <a:p>
                      <a:r>
                        <a:rPr lang="de-DE" sz="1400" dirty="0"/>
                        <a:t>4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Verbindlichkeiten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359">
                <a:tc>
                  <a:txBody>
                    <a:bodyPr/>
                    <a:lstStyle/>
                    <a:p>
                      <a:r>
                        <a:rPr lang="de-DE" sz="1400" dirty="0"/>
                        <a:t>5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de-DE" sz="1600" dirty="0"/>
                        <a:t>Erfolgskonten</a:t>
                      </a:r>
                      <a:r>
                        <a:rPr lang="de-DE" sz="1400" dirty="0"/>
                        <a:t>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Ertragskonten</a:t>
                      </a:r>
                      <a:r>
                        <a:rPr lang="de-DE" sz="1400" dirty="0"/>
                        <a:t>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Erträge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084">
                <a:tc>
                  <a:txBody>
                    <a:bodyPr/>
                    <a:lstStyle/>
                    <a:p>
                      <a:r>
                        <a:rPr lang="de-DE" sz="1400" dirty="0"/>
                        <a:t>6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de-DE" sz="1600" dirty="0"/>
                        <a:t>Aufwandskonten</a:t>
                      </a:r>
                      <a:r>
                        <a:rPr lang="de-DE" sz="1400" dirty="0"/>
                        <a:t>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Betriebliche Aufwendungen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7084">
                <a:tc>
                  <a:txBody>
                    <a:bodyPr/>
                    <a:lstStyle/>
                    <a:p>
                      <a:r>
                        <a:rPr lang="de-DE" sz="1400" dirty="0"/>
                        <a:t>7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Weitere Aufwendungen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359">
                <a:tc>
                  <a:txBody>
                    <a:bodyPr/>
                    <a:lstStyle/>
                    <a:p>
                      <a:r>
                        <a:rPr lang="de-DE" sz="1400" dirty="0"/>
                        <a:t>8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de-DE" sz="1400" dirty="0"/>
                        <a:t>Ergebnisrechnungen </a:t>
                      </a:r>
                    </a:p>
                  </a:txBody>
                  <a:tcPr marL="57239" marR="57239" marT="28620" marB="286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359">
                <a:tc>
                  <a:txBody>
                    <a:bodyPr/>
                    <a:lstStyle/>
                    <a:p>
                      <a:r>
                        <a:rPr lang="de-DE" sz="1400" dirty="0"/>
                        <a:t>9 </a:t>
                      </a:r>
                    </a:p>
                  </a:txBody>
                  <a:tcPr marL="57239" marR="57239" marT="28620" marB="286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de-DE" sz="1400" dirty="0"/>
                        <a:t>Kosten- und Leistungsrechnung </a:t>
                      </a:r>
                    </a:p>
                  </a:txBody>
                  <a:tcPr marL="57239" marR="57239" marT="28620" marB="286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5953" name="Rectangle 1"/>
          <p:cNvSpPr>
            <a:spLocks noChangeArrowheads="1"/>
          </p:cNvSpPr>
          <p:nvPr/>
        </p:nvSpPr>
        <p:spPr bwMode="auto">
          <a:xfrm>
            <a:off x="395536" y="260648"/>
            <a:ext cx="84969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Organisation der Buchführung: Aufbau des Industrie-Kontenrahmens (IKR)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29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0"/>
                    </a14:imgEffect>
                    <a14:imgEffect>
                      <a14:brightnessContrast bright="15000" contrast="21000"/>
                    </a14:imgEffect>
                  </a14:imgLayer>
                </a14:imgProps>
              </a:ext>
            </a:extLst>
          </a:blip>
          <a:srcRect l="19491" t="23625" r="17904" b="7391"/>
          <a:stretch>
            <a:fillRect/>
          </a:stretch>
        </p:blipFill>
        <p:spPr bwMode="auto">
          <a:xfrm>
            <a:off x="0" y="0"/>
            <a:ext cx="8937134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Abgerundetes Rechteck 51"/>
          <p:cNvSpPr/>
          <p:nvPr/>
        </p:nvSpPr>
        <p:spPr>
          <a:xfrm>
            <a:off x="2771800" y="5716642"/>
            <a:ext cx="4032448" cy="2880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/>
        </p:nvSpPr>
        <p:spPr>
          <a:xfrm>
            <a:off x="7036748" y="5157192"/>
            <a:ext cx="180020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1187624" y="56353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Erläuterungen:</a:t>
            </a:r>
          </a:p>
        </p:txBody>
      </p:sp>
      <p:cxnSp>
        <p:nvCxnSpPr>
          <p:cNvPr id="6" name="Gewinkelte Verbindung 5"/>
          <p:cNvCxnSpPr/>
          <p:nvPr/>
        </p:nvCxnSpPr>
        <p:spPr>
          <a:xfrm rot="16200000" flipH="1">
            <a:off x="971600" y="3933056"/>
            <a:ext cx="2304256" cy="1008112"/>
          </a:xfrm>
          <a:prstGeom prst="bentConnector3">
            <a:avLst>
              <a:gd name="adj1" fmla="val 39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2771800" y="5644634"/>
            <a:ext cx="4392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0750	Konto   Transportanlagen</a:t>
            </a:r>
          </a:p>
          <a:p>
            <a:endParaRPr lang="de-DE" dirty="0"/>
          </a:p>
          <a:p>
            <a:endParaRPr lang="de-DE" dirty="0"/>
          </a:p>
        </p:txBody>
      </p:sp>
      <p:cxnSp>
        <p:nvCxnSpPr>
          <p:cNvPr id="21" name="Gewinkelte Verbindung 20"/>
          <p:cNvCxnSpPr/>
          <p:nvPr/>
        </p:nvCxnSpPr>
        <p:spPr>
          <a:xfrm>
            <a:off x="2915816" y="5932666"/>
            <a:ext cx="720080" cy="288032"/>
          </a:xfrm>
          <a:prstGeom prst="bentConnector3">
            <a:avLst>
              <a:gd name="adj1" fmla="val -291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3707904" y="6026160"/>
            <a:ext cx="417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Kontenklasse     0    Anlagevermögen</a:t>
            </a:r>
          </a:p>
        </p:txBody>
      </p:sp>
      <p:cxnSp>
        <p:nvCxnSpPr>
          <p:cNvPr id="26" name="Gewinkelte Verbindung 25"/>
          <p:cNvCxnSpPr/>
          <p:nvPr/>
        </p:nvCxnSpPr>
        <p:spPr>
          <a:xfrm>
            <a:off x="2987824" y="5932666"/>
            <a:ext cx="648072" cy="504056"/>
          </a:xfrm>
          <a:prstGeom prst="bentConnector3">
            <a:avLst>
              <a:gd name="adj1" fmla="val 688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3707904" y="6271498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Kontengruppe   07   Technische Anlagen und Maschinen</a:t>
            </a:r>
          </a:p>
        </p:txBody>
      </p:sp>
      <p:cxnSp>
        <p:nvCxnSpPr>
          <p:cNvPr id="44" name="Gewinkelte Verbindung 43"/>
          <p:cNvCxnSpPr/>
          <p:nvPr/>
        </p:nvCxnSpPr>
        <p:spPr>
          <a:xfrm rot="16200000" flipH="1">
            <a:off x="2987824" y="6076682"/>
            <a:ext cx="792088" cy="504056"/>
          </a:xfrm>
          <a:prstGeom prst="bentConnector3">
            <a:avLst>
              <a:gd name="adj1" fmla="val 99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/>
          <p:cNvSpPr txBox="1"/>
          <p:nvPr/>
        </p:nvSpPr>
        <p:spPr>
          <a:xfrm>
            <a:off x="3635896" y="6546830"/>
            <a:ext cx="501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 Kontenart         0750    Transportanlagen (Kontonummer)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323528" y="5157192"/>
            <a:ext cx="3744416" cy="1440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30575" algn="l"/>
              </a:tabLst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30575" algn="l"/>
              </a:tabLst>
            </a:pP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Inventar – Bilanzbuch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330575" algn="l"/>
              </a:tabLst>
            </a:pPr>
            <a:r>
              <a:rPr kumimoji="0" lang="de-D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 </a:t>
            </a:r>
            <a:r>
              <a:rPr kumimoji="0" 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Jahresabschluss erstellen</a:t>
            </a:r>
            <a:br>
              <a:rPr kumimoji="0" 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br>
              <a:rPr kumimoji="0" lang="de-D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endParaRPr kumimoji="0" 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323528" y="476672"/>
            <a:ext cx="8208912" cy="72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Grundbuch (Buchungsjournal)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</a:t>
            </a: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Erfassung aller Geschäftsfälle in zeitlicher Reihenfolge</a:t>
            </a:r>
            <a:endParaRPr kumimoji="0" 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23528" y="1196752"/>
            <a:ext cx="3744416" cy="237626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Hauptbuch (Sachkontenbuchhaltung)</a:t>
            </a:r>
            <a:br>
              <a: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Alle erfassten Buchungen werden  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  entsprechend dem  verwendeten 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  Kontenrahmen  in einzelnen Bestands- und 	Erfolgskonten gebucht und  am Ende der 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  Periode in Abschlusskonten (G+V, SBK)	zusammengefasst.</a:t>
            </a:r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4283968" y="1196753"/>
            <a:ext cx="4267944" cy="547260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9975" algn="l"/>
                <a:tab pos="4051300" algn="l"/>
              </a:tabLst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9975" algn="l"/>
                <a:tab pos="4051300" algn="l"/>
              </a:tabLst>
            </a:pPr>
            <a:r>
              <a:rPr kumimoji="0" lang="de-D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Nebenbücher (Nebenbuchhaltungen)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è"/>
              <a:tabLst>
                <a:tab pos="2339975" algn="l"/>
                <a:tab pos="4051300" algn="l"/>
              </a:tabLst>
            </a:pP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für spezielle betriebswirtschaftliche </a:t>
            </a:r>
            <a:r>
              <a:rPr lang="de-DE" dirty="0">
                <a:sym typeface="Wingdings" pitchFamily="2" charset="2"/>
              </a:rPr>
              <a:t>Aufgaben-</a:t>
            </a:r>
            <a:br>
              <a:rPr lang="de-DE" dirty="0">
                <a:sym typeface="Wingdings" pitchFamily="2" charset="2"/>
              </a:rPr>
            </a:br>
            <a:r>
              <a:rPr lang="de-DE" dirty="0">
                <a:sym typeface="Wingdings" pitchFamily="2" charset="2"/>
              </a:rPr>
              <a:t>     </a:t>
            </a:r>
            <a:r>
              <a:rPr lang="de-DE" dirty="0" err="1">
                <a:sym typeface="Wingdings" pitchFamily="2" charset="2"/>
              </a:rPr>
              <a:t>stellungen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(Funktionen) ist eine Kontenführung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è"/>
              <a:tabLst>
                <a:tab pos="2339975" algn="l"/>
                <a:tab pos="4051300" algn="l"/>
              </a:tabLst>
            </a:pP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speziellen Konten erforderlich. 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9975" algn="l"/>
                <a:tab pos="4051300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Kontokorrentbuchhaltung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339975" algn="l"/>
                <a:tab pos="4051300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Debitorenbuchhaltung</a:t>
            </a:r>
            <a:b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Kundendaten verwalten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339975" algn="l"/>
                <a:tab pos="4051300" algn="l"/>
              </a:tabLst>
            </a:pPr>
            <a:r>
              <a:rPr kumimoji="0" lang="de-DE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Kreditorenbuchhaltung</a:t>
            </a:r>
            <a:b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Lieferantendaten verwalten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9975" algn="l"/>
                <a:tab pos="4051300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Lagerbuchhaltung</a:t>
            </a:r>
            <a:b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 Bestände führen</a:t>
            </a:r>
            <a:b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9975" algn="l"/>
                <a:tab pos="4051300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Lohn- /Gehaltsbuchhaltung</a:t>
            </a:r>
            <a:b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 Entgeltabrechnungen  durchführen und Personaldaten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 verwalten</a:t>
            </a:r>
            <a:b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39975" algn="l"/>
                <a:tab pos="4051300" algn="l"/>
              </a:tabLst>
            </a:pPr>
            <a: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Anlagenbuchhaltung</a:t>
            </a:r>
            <a:br>
              <a:rPr kumimoji="0" 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 Datenverwaltung für jedes Wirtschaftsgut des 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 Anlagevermögens durchführen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(Anschaffungskosten, Nutzungsdauer, Abschreibungs-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</a:t>
            </a: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beträge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und aktuelle Buchwerte ermitteln und </a:t>
            </a:r>
            <a:b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</a:b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Arial" pitchFamily="34" charset="0"/>
                <a:sym typeface="Wingdings" pitchFamily="2" charset="2"/>
              </a:rPr>
              <a:t>    dokumentieren</a:t>
            </a:r>
            <a:endParaRPr kumimoji="0" lang="de-D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395536" y="-23328"/>
            <a:ext cx="8748464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Bücher (Bereiche) der Finanzbuchhaltung (vgl. B.S. 105-109)</a:t>
            </a:r>
            <a:endParaRPr kumimoji="0" 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  <a:tab pos="1530350" algn="l"/>
              </a:tabLst>
            </a:pPr>
            <a:br>
              <a:rPr kumimoji="0" lang="de-DE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Pfeil nach oben und unten 15"/>
          <p:cNvSpPr/>
          <p:nvPr/>
        </p:nvSpPr>
        <p:spPr>
          <a:xfrm>
            <a:off x="395536" y="3573016"/>
            <a:ext cx="1080120" cy="1656184"/>
          </a:xfrm>
          <a:prstGeom prst="upDownArrow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Legende mit Linie 1 17"/>
          <p:cNvSpPr/>
          <p:nvPr/>
        </p:nvSpPr>
        <p:spPr>
          <a:xfrm>
            <a:off x="1835696" y="3933056"/>
            <a:ext cx="2232248" cy="1008112"/>
          </a:xfrm>
          <a:prstGeom prst="borderCallout1">
            <a:avLst>
              <a:gd name="adj1" fmla="val 46466"/>
              <a:gd name="adj2" fmla="val -1974"/>
              <a:gd name="adj3" fmla="val 46991"/>
              <a:gd name="adj4" fmla="val -27725"/>
            </a:avLst>
          </a:prstGeom>
          <a:solidFill>
            <a:srgbClr val="F8A9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atin typeface="Arial Black" pitchFamily="34" charset="0"/>
              </a:rPr>
              <a:t>Abstimmung: </a:t>
            </a:r>
            <a:br>
              <a:rPr lang="de-DE" b="1" dirty="0">
                <a:latin typeface="Arial Black" pitchFamily="34" charset="0"/>
              </a:rPr>
            </a:br>
            <a:r>
              <a:rPr lang="de-DE" b="1" dirty="0">
                <a:latin typeface="Arial Black" pitchFamily="34" charset="0"/>
              </a:rPr>
              <a:t>SBK und Inventur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889" grpId="0" animBg="1"/>
      <p:bldP spid="37891" grpId="0" animBg="1"/>
      <p:bldP spid="37890" grpId="0" animBg="1"/>
      <p:bldP spid="37893" grpId="0"/>
      <p:bldP spid="16" grpId="0" animBg="1"/>
      <p:bldP spid="18" grpId="0" animBg="1"/>
    </p:bld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Iapetus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274</Words>
  <Application>Microsoft Office PowerPoint</Application>
  <PresentationFormat>Bildschirmpräsentation (4:3)</PresentationFormat>
  <Paragraphs>57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Times New Roman</vt:lpstr>
      <vt:lpstr>Wingdings</vt:lpstr>
      <vt:lpstr>Larissa-Design</vt:lpstr>
      <vt:lpstr>PowerPoint-Präsentation</vt:lpstr>
      <vt:lpstr>PowerPoint-Präsentation</vt:lpstr>
      <vt:lpstr>PowerPoint-Präsentation</vt:lpstr>
    </vt:vector>
  </TitlesOfParts>
  <Company>F.S.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Frank Schwaller</dc:creator>
  <cp:lastModifiedBy>Ralph Hoffmann</cp:lastModifiedBy>
  <cp:revision>196</cp:revision>
  <dcterms:created xsi:type="dcterms:W3CDTF">2010-09-15T14:10:24Z</dcterms:created>
  <dcterms:modified xsi:type="dcterms:W3CDTF">2024-06-12T16:46:46Z</dcterms:modified>
</cp:coreProperties>
</file>